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54335" y="20116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6680"/>
                </a:solidFill>
                <a:latin typeface="Calibri"/>
              </a:rPr>
              <a:t>01 /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685800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ABBCC"/>
                </a:solidFill>
                <a:latin typeface="Calibri"/>
              </a:rPr>
              <a:t>01 · THE HOOK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033272"/>
            <a:ext cx="594360" cy="5029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188720"/>
            <a:ext cx="96012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Japan just ended 30 years of monetary
history — in 12 months.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5989320"/>
            <a:ext cx="9601200" cy="566928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6099048"/>
            <a:ext cx="9272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A020"/>
                </a:solidFill>
                <a:latin typeface="Calibri"/>
              </a:rPr>
              <a:t>★  Takeaway — Japan's economic playbook has been rewritten. Your strategy should be too.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D8F0"/>
                </a:solidFill>
                <a:latin typeface="Calibri"/>
              </a:rPr>
              <a:t>From negative interest rates to the highest policy rate since 1995.
This isn't a tweak — it's a structural reset.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54335" y="20116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02 /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685800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18096"/>
                </a:solidFill>
                <a:latin typeface="Calibri"/>
              </a:rPr>
              <a:t>02 · 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033272"/>
            <a:ext cx="594360" cy="5029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188720"/>
            <a:ext cx="96012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A1628"/>
                </a:solidFill>
                <a:latin typeface="Calibri"/>
              </a:rPr>
              <a:t>"Free money" for a decade created
dangerous dependency.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5989320"/>
            <a:ext cx="9601200" cy="566928"/>
          </a:xfrm>
          <a:prstGeom prst="rect">
            <a:avLst/>
          </a:prstGeom>
          <a:solidFill>
            <a:srgbClr val="E2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6099048"/>
            <a:ext cx="9272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56DB"/>
                </a:solidFill>
                <a:latin typeface="Calibri"/>
              </a:rPr>
              <a:t>★  Takeaway — Ultra-loose policy solved deflation but created structural fragility across every sector.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3081528"/>
            <a:ext cx="91440" cy="914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" y="2971800"/>
            <a:ext cx="8595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A1628"/>
                </a:solidFill>
                <a:latin typeface="Calibri"/>
              </a:rPr>
              <a:t>Negative rates propped up zombie firms while crushing bank margins for 7+ years.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3831336"/>
            <a:ext cx="91440" cy="914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3721608"/>
            <a:ext cx="8595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A1628"/>
                </a:solidFill>
                <a:latin typeface="Calibri"/>
              </a:rPr>
              <a:t>Nominal wages stagnated for three decades even as asset prices soared under Abenomics.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581144"/>
            <a:ext cx="91440" cy="914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8" y="4471416"/>
            <a:ext cx="8595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A1628"/>
                </a:solidFill>
                <a:latin typeface="Calibri"/>
              </a:rPr>
              <a:t>Real GDP grew just 0.1% in 2024 — near-zero growth, not the recovery policy promised.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54335" y="20116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6680"/>
                </a:solidFill>
                <a:latin typeface="Calibri"/>
              </a:rPr>
              <a:t>03 /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685800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ABBCC"/>
                </a:solidFill>
                <a:latin typeface="Calibri"/>
              </a:rPr>
              <a:t>03 · THE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033272"/>
            <a:ext cx="594360" cy="5029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188720"/>
            <a:ext cx="96012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The rate hike isn't a threat —
it's Japan's biggest opportunity in a generation.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5989320"/>
            <a:ext cx="9601200" cy="566928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6099048"/>
            <a:ext cx="9272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A020"/>
                </a:solidFill>
                <a:latin typeface="Calibri"/>
              </a:rPr>
              <a:t>★  Takeaway — Tightening is flushing out dead capital and redirecting it toward Japan's next-growth sectors.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3081528"/>
            <a:ext cx="91440" cy="9144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" y="2971800"/>
            <a:ext cx="8595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Wage growth hit 5.46% in 2026 — levels unseen since 1991 — igniting real consumer spending.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3831336"/>
            <a:ext cx="91440" cy="9144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3721608"/>
            <a:ext cx="8595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Record ¥29.3 trillion current account surplus and US$31B in greenfield FDI hit in 2024 alone.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581144"/>
            <a:ext cx="91440" cy="9144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8" y="4471416"/>
            <a:ext cx="8595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Normalisation is forcing capital toward productive sectors: semiconductors, AI, healthcare.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54335" y="20116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04 /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685800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18096"/>
                </a:solidFill>
                <a:latin typeface="Calibri"/>
              </a:rPr>
              <a:t>04 · THE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033272"/>
            <a:ext cx="594360" cy="5029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188720"/>
            <a:ext cx="96012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A1628"/>
                </a:solidFill>
                <a:latin typeface="Calibri"/>
              </a:rPr>
              <a:t>Four transmission channels are
reshaping where capital wins.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5989320"/>
            <a:ext cx="9601200" cy="566928"/>
          </a:xfrm>
          <a:prstGeom prst="rect">
            <a:avLst/>
          </a:prstGeom>
          <a:solidFill>
            <a:srgbClr val="E2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6099048"/>
            <a:ext cx="9272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56DB"/>
                </a:solidFill>
                <a:latin typeface="Calibri"/>
              </a:rPr>
              <a:t>★  Takeaway — Winners will be firms aligned with rising wages, domestic demand, and hard-asset infrastructure.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770632"/>
            <a:ext cx="109728" cy="1097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69748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56DB"/>
                </a:solidFill>
                <a:latin typeface="Calibri"/>
              </a:rPr>
              <a:t>Interest-Rate 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17520"/>
            <a:ext cx="4389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A1628"/>
                </a:solidFill>
                <a:latin typeface="Calibri"/>
              </a:rPr>
              <a:t>Rising borrowing costs kill zombie firms; regional banks finally earn margins again.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2770632"/>
            <a:ext cx="109728" cy="1097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269748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56DB"/>
                </a:solidFill>
                <a:latin typeface="Calibri"/>
              </a:rPr>
              <a:t>Wage–Price Channel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3017520"/>
            <a:ext cx="4389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A1628"/>
                </a:solidFill>
                <a:latin typeface="Calibri"/>
              </a:rPr>
              <a:t>Shunto wage anchor: 5.1% → 5.42% → 5.46% over three consecutive years.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3822192"/>
            <a:ext cx="109728" cy="1097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374904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56DB"/>
                </a:solidFill>
                <a:latin typeface="Calibri"/>
              </a:rPr>
              <a:t>Corporate-Governance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069080"/>
            <a:ext cx="4389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A1628"/>
                </a:solidFill>
                <a:latin typeface="Calibri"/>
              </a:rPr>
              <a:t>TSE pressure on below-book firms: Nikkei surpassed its 1989 bubble peak.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3822192"/>
            <a:ext cx="109728" cy="1097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374904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56DB"/>
                </a:solidFill>
                <a:latin typeface="Calibri"/>
              </a:rPr>
              <a:t>FDI Channel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4069080"/>
            <a:ext cx="4389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A1628"/>
                </a:solidFill>
                <a:latin typeface="Calibri"/>
              </a:rPr>
              <a:t>Japan repositioned as supply-chain hub: TSMC Kumamoto leads the wave.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54335" y="20116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6680"/>
                </a:solidFill>
                <a:latin typeface="Calibri"/>
              </a:rPr>
              <a:t>05 /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685800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ABBCC"/>
                </a:solidFill>
                <a:latin typeface="Calibri"/>
              </a:rPr>
              <a:t>05 · THE PROOF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033272"/>
            <a:ext cx="594360" cy="5029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188720"/>
            <a:ext cx="96012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The numbers confirm the structural
shift is real.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5989320"/>
            <a:ext cx="9601200" cy="566928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6099048"/>
            <a:ext cx="9272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A020"/>
                </a:solidFill>
                <a:latin typeface="Calibri"/>
              </a:rPr>
              <a:t>★  Takeaway — Japan's wage–price cycle is self-sustaining for the first time since 1991. Capital is already voting.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1569567" y="2788920"/>
            <a:ext cx="2834640" cy="1554480"/>
          </a:xfrm>
          <a:prstGeom prst="rect">
            <a:avLst/>
          </a:prstGeom>
          <a:solidFill>
            <a:srgbClr val="18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70735" y="2971800"/>
            <a:ext cx="24323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A020"/>
                </a:solidFill>
                <a:latin typeface="Calibri"/>
              </a:rPr>
              <a:t>5.46%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70735" y="3657600"/>
            <a:ext cx="243230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  <a:latin typeface="Calibri"/>
              </a:rPr>
              <a:t>2026 Shunto wage settlement
— highest since 1991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78527" y="2788920"/>
            <a:ext cx="2834640" cy="1554480"/>
          </a:xfrm>
          <a:prstGeom prst="rect">
            <a:avLst/>
          </a:prstGeom>
          <a:solidFill>
            <a:srgbClr val="18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79695" y="2971800"/>
            <a:ext cx="24323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A020"/>
                </a:solidFill>
                <a:latin typeface="Calibri"/>
              </a:rPr>
              <a:t>¥29.3T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9695" y="3657600"/>
            <a:ext cx="243230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  <a:latin typeface="Calibri"/>
              </a:rPr>
              <a:t>Record current account surplus
in 2024 (4.8% of GDP)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87487" y="2788920"/>
            <a:ext cx="2834640" cy="1554480"/>
          </a:xfrm>
          <a:prstGeom prst="rect">
            <a:avLst/>
          </a:prstGeom>
          <a:solidFill>
            <a:srgbClr val="18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88655" y="2971800"/>
            <a:ext cx="24323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A020"/>
                </a:solidFill>
                <a:latin typeface="Calibri"/>
              </a:rPr>
              <a:t>$31B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8655" y="3657600"/>
            <a:ext cx="243230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BCC"/>
                </a:solidFill>
                <a:latin typeface="Calibri"/>
              </a:rPr>
              <a:t>Record greenfield FDI
committed to Japan in 2024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54335" y="20116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06 /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685800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18096"/>
                </a:solidFill>
                <a:latin typeface="Calibri"/>
              </a:rPr>
              <a:t>06 · THE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033272"/>
            <a:ext cx="594360" cy="5029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188720"/>
            <a:ext cx="96012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A1628"/>
                </a:solidFill>
                <a:latin typeface="Calibri"/>
              </a:rPr>
              <a:t>One threat could derail normalisation:
fiscal policy.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5989320"/>
            <a:ext cx="9601200" cy="566928"/>
          </a:xfrm>
          <a:prstGeom prst="rect">
            <a:avLst/>
          </a:prstGeom>
          <a:solidFill>
            <a:srgbClr val="E2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6099048"/>
            <a:ext cx="9272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56DB"/>
                </a:solidFill>
                <a:latin typeface="Calibri"/>
              </a:rPr>
              <a:t>★  Takeaway — Monitor fiscal trajectory: monetary success can be undone by an expansionary government.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3081528"/>
            <a:ext cx="91440" cy="914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" y="2971800"/>
            <a:ext cx="8595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A1628"/>
                </a:solidFill>
                <a:latin typeface="Calibri"/>
              </a:rPr>
              <a:t>Public debt at ~230% of GDP — every 25bp rate hike amplifies debt-servicing costs measurably.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3831336"/>
            <a:ext cx="91440" cy="914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3721608"/>
            <a:ext cx="8595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A1628"/>
                </a:solidFill>
                <a:latin typeface="Calibri"/>
              </a:rPr>
              <a:t>FY2026 budget hit ¥122.3T with a ¥21.3T stimulus, pushing 10-yr JGB yields above 2%.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581144"/>
            <a:ext cx="91440" cy="914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8" y="4471416"/>
            <a:ext cx="8595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A1628"/>
                </a:solidFill>
                <a:latin typeface="Calibri"/>
              </a:rPr>
              <a:t>CPI slipped to 1.5% in May 2026 — below the BoJ's own 2% target — yet hikes continued.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54335" y="20116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6680"/>
                </a:solidFill>
                <a:latin typeface="Calibri"/>
              </a:rPr>
              <a:t>07 /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685800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ABBCC"/>
                </a:solidFill>
                <a:latin typeface="Calibri"/>
              </a:rPr>
              <a:t>07 · THE 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033272"/>
            <a:ext cx="594360" cy="5029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188720"/>
            <a:ext cx="96012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Reposition your Japan strategy
for normalisation — now.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5989320"/>
            <a:ext cx="9601200" cy="566928"/>
          </a:xfrm>
          <a:prstGeom prst="rect">
            <a:avLst/>
          </a:prstGeom>
          <a:solidFill>
            <a:srgbClr val="14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6099048"/>
            <a:ext cx="9272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A020"/>
                </a:solidFill>
                <a:latin typeface="Calibri"/>
              </a:rPr>
              <a:t>★  Takeaway — The window for repositioning is open now. The firms that move first will define Japan 3.0.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743200"/>
            <a:ext cx="8961120" cy="25603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92608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Three actions before year-end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25880" y="3483864"/>
            <a:ext cx="292608" cy="29260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456432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8A020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3456432"/>
            <a:ext cx="7863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A1628"/>
                </a:solidFill>
                <a:latin typeface="Calibri"/>
              </a:rPr>
              <a:t>Audit your capital structure — leverage that was free in 2023 carries real cost at 1%+ rates.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25880" y="4078224"/>
            <a:ext cx="292608" cy="29260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4050792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8A020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4050792"/>
            <a:ext cx="7863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A1628"/>
                </a:solidFill>
                <a:latin typeface="Calibri"/>
              </a:rPr>
              <a:t>Shift sector exposure toward domestic demand: premium goods, healthcare, fintech, automation.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25880" y="4672584"/>
            <a:ext cx="292608" cy="29260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4645152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8A020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55648" y="4645152"/>
            <a:ext cx="7863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A1628"/>
                </a:solidFill>
                <a:latin typeface="Calibri"/>
              </a:rPr>
              <a:t>Track the fiscal-monetary tension — it is the single largest risk to normalisation's durability.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