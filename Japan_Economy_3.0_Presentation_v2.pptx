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BoJ Policy Rate (%)</c:v>
                </c:pt>
              </c:strCache>
            </c:strRef>
          </c:tx>
          <c:spPr>
            <a:solidFill>
              <a:srgbClr val="1A56DB"/>
            </a:solidFill>
          </c:spPr>
          <c:cat>
            <c:strRef>
              <c:f>Sheet1!$A$2:$A$12</c:f>
              <c:strCache>
                <c:ptCount val="11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-0.1</c:v>
                </c:pt>
                <c:pt idx="4">
                  <c:v>-0.1</c:v>
                </c:pt>
                <c:pt idx="5">
                  <c:v>-0.1</c:v>
                </c:pt>
                <c:pt idx="6">
                  <c:v>-0.1</c:v>
                </c:pt>
                <c:pt idx="7">
                  <c:v>-0.1</c:v>
                </c:pt>
                <c:pt idx="8">
                  <c:v>-0.1</c:v>
                </c:pt>
                <c:pt idx="9">
                  <c:v>-0.1</c:v>
                </c:pt>
                <c:pt idx="10">
                  <c:v>-0.1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spPr>
          <a:ln>
            <a:solidFill>
              <a:srgbClr val="EEEEEE"/>
            </a:solidFill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BoJ Policy Rate (%)</c:v>
                </c:pt>
              </c:strCache>
            </c:strRef>
          </c:tx>
          <c:spPr>
            <a:solidFill>
              <a:srgbClr val="E8A020"/>
            </a:solidFill>
          </c:spPr>
          <c:cat>
            <c:strRef>
              <c:f>Sheet1!$A$2:$A$7</c:f>
              <c:strCache>
                <c:ptCount val="6"/>
                <c:pt idx="0">
                  <c:v>Pre-2024</c:v>
                </c:pt>
                <c:pt idx="1">
                  <c:v>Mar 2024</c:v>
                </c:pt>
                <c:pt idx="2">
                  <c:v>Jul 2024</c:v>
                </c:pt>
                <c:pt idx="3">
                  <c:v>Jan 2025</c:v>
                </c:pt>
                <c:pt idx="4">
                  <c:v>Dec 2025</c:v>
                </c:pt>
                <c:pt idx="5">
                  <c:v>2026(f)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-0.1</c:v>
                </c:pt>
                <c:pt idx="1">
                  <c:v>0.1</c:v>
                </c:pt>
                <c:pt idx="2">
                  <c:v>0.25</c:v>
                </c:pt>
                <c:pt idx="3">
                  <c:v>0.5</c:v>
                </c:pt>
                <c:pt idx="4">
                  <c:v>0.75</c:v>
                </c:pt>
                <c:pt idx="5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spPr>
          <a:ln>
            <a:solidFill>
              <a:srgbClr val="EEEEEE"/>
            </a:solidFill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Real GDP (%)</c:v>
                </c:pt>
              </c:strCache>
            </c:strRef>
          </c:tx>
          <c:spPr>
            <a:solidFill>
              <a:srgbClr val="1A56DB"/>
            </a:solidFill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2026(p)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</c:v>
                </c:pt>
                <c:pt idx="1">
                  <c:v>1.5</c:v>
                </c:pt>
                <c:pt idx="2">
                  <c:v>0.1</c:v>
                </c:pt>
                <c:pt idx="3">
                  <c:v>1.1</c:v>
                </c:pt>
                <c:pt idx="4">
                  <c:v>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CPI (%)</c:v>
                </c:pt>
              </c:strCache>
            </c:strRef>
          </c:tx>
          <c:spPr>
            <a:solidFill>
              <a:srgbClr val="E86020"/>
            </a:solidFill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2026(p)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2.5</c:v>
                </c:pt>
                <c:pt idx="1">
                  <c:v>3.3</c:v>
                </c:pt>
                <c:pt idx="2">
                  <c:v>2.7</c:v>
                </c:pt>
                <c:pt idx="3">
                  <c:v>2.4</c:v>
                </c:pt>
                <c:pt idx="4">
                  <c:v>1.5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Shunto Wages (%)</c:v>
                </c:pt>
              </c:strCache>
            </c:strRef>
          </c:tx>
          <c:spPr>
            <a:solidFill>
              <a:srgbClr val="E8A020"/>
            </a:solidFill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2026(p)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2.2</c:v>
                </c:pt>
                <c:pt idx="1">
                  <c:v>3.6</c:v>
                </c:pt>
                <c:pt idx="2">
                  <c:v>5.1</c:v>
                </c:pt>
                <c:pt idx="3">
                  <c:v>5.42</c:v>
                </c:pt>
                <c:pt idx="4">
                  <c:v>5.46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spPr>
          <a:ln>
            <a:solidFill>
              <a:srgbClr val="EEEEEE"/>
            </a:solidFill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BoJ Policy Rate (%)</c:v>
                </c:pt>
              </c:strCache>
            </c:strRef>
          </c:tx>
          <c:spPr>
            <a:solidFill>
              <a:srgbClr val="0A1628"/>
            </a:solidFill>
          </c:spPr>
          <c:cat>
            <c:strRef>
              <c:f>Sheet1!$A$2:$A$7</c:f>
              <c:strCache>
                <c:ptCount val="6"/>
                <c:pt idx="0">
                  <c:v>Pre-2024</c:v>
                </c:pt>
                <c:pt idx="1">
                  <c:v>Mar '24</c:v>
                </c:pt>
                <c:pt idx="2">
                  <c:v>Jul '24</c:v>
                </c:pt>
                <c:pt idx="3">
                  <c:v>Jan '25</c:v>
                </c:pt>
                <c:pt idx="4">
                  <c:v>Dec '25</c:v>
                </c:pt>
                <c:pt idx="5">
                  <c:v>2026(f)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-0.1</c:v>
                </c:pt>
                <c:pt idx="1">
                  <c:v>0.1</c:v>
                </c:pt>
                <c:pt idx="2">
                  <c:v>0.25</c:v>
                </c:pt>
                <c:pt idx="3">
                  <c:v>0.5</c:v>
                </c:pt>
                <c:pt idx="4">
                  <c:v>0.75</c:v>
                </c:pt>
                <c:pt idx="5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spPr>
          <a:ln>
            <a:solidFill>
              <a:srgbClr val="EEEEEE"/>
            </a:solidFill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Real GDP Growth (%)</c:v>
                </c:pt>
              </c:strCache>
            </c:strRef>
          </c:tx>
          <c:spPr>
            <a:solidFill>
              <a:srgbClr val="1A56DB"/>
            </a:solidFill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2026(p)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</c:v>
                </c:pt>
                <c:pt idx="1">
                  <c:v>1.5</c:v>
                </c:pt>
                <c:pt idx="2">
                  <c:v>0.1</c:v>
                </c:pt>
                <c:pt idx="3">
                  <c:v>1.1</c:v>
                </c:pt>
                <c:pt idx="4">
                  <c:v>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Shunto Wage Growth (%)</c:v>
                </c:pt>
              </c:strCache>
            </c:strRef>
          </c:tx>
          <c:spPr>
            <a:solidFill>
              <a:srgbClr val="E8A020"/>
            </a:solidFill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2026(p)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2.2</c:v>
                </c:pt>
                <c:pt idx="1">
                  <c:v>3.6</c:v>
                </c:pt>
                <c:pt idx="2">
                  <c:v>5.1</c:v>
                </c:pt>
                <c:pt idx="3">
                  <c:v>5.42</c:v>
                </c:pt>
                <c:pt idx="4">
                  <c:v>5.46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spPr>
          <a:ln>
            <a:solidFill>
              <a:srgbClr val="EEEEEE"/>
            </a:solidFill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Headline CPI (%)</c:v>
                </c:pt>
              </c:strCache>
            </c:strRef>
          </c:tx>
          <c:spPr>
            <a:ln w="31750">
              <a:solidFill>
                <a:srgbClr val="E86020"/>
              </a:solidFill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2026(May)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</c:v>
                </c:pt>
                <c:pt idx="1">
                  <c:v>3.3</c:v>
                </c:pt>
                <c:pt idx="2">
                  <c:v>2.7</c:v>
                </c:pt>
                <c:pt idx="3">
                  <c:v>2.4</c:v>
                </c:pt>
                <c:pt idx="4">
                  <c:v>1.5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2% BoJ Target</c:v>
                </c:pt>
              </c:strCache>
            </c:strRef>
          </c:tx>
          <c:spPr>
            <a:ln w="31750">
              <a:solidFill>
                <a:srgbClr val="D92424"/>
              </a:solidFill>
              <a:prstDash val="dash"/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2026(May)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BoJ Policy Rate (%)</c:v>
                </c:pt>
              </c:strCache>
            </c:strRef>
          </c:tx>
          <c:spPr>
            <a:ln w="31750">
              <a:solidFill>
                <a:srgbClr val="1A56DB"/>
              </a:solidFill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2026(May)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-0.1</c:v>
                </c:pt>
                <c:pt idx="1">
                  <c:v>-0.1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  <c:spPr>
          <a:ln>
            <a:solidFill>
              <a:srgbClr val="EEEEEE"/>
            </a:solidFill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Account (% GDP)</c:v>
                </c:pt>
              </c:strCache>
            </c:strRef>
          </c:tx>
          <c:spPr>
            <a:solidFill>
              <a:srgbClr val="E8A020"/>
            </a:solidFill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2025(p)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3.6</c:v>
                </c:pt>
                <c:pt idx="2">
                  <c:v>4.8</c:v>
                </c:pt>
                <c:pt idx="3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spPr>
          <a:ln>
            <a:solidFill>
              <a:srgbClr val="EEEEEE"/>
            </a:solidFill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Nikkei 225 (÷1000, approx)</c:v>
                </c:pt>
              </c:strCache>
            </c:strRef>
          </c:tx>
          <c:spPr>
            <a:ln w="31750">
              <a:solidFill>
                <a:srgbClr val="106B3A"/>
              </a:solidFill>
            </a:ln>
          </c:spPr>
          <c:cat>
            <c:strRef>
              <c:f>Sheet1!$A$2:$A$7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Pre-hike
2024</c:v>
                </c:pt>
                <c:pt idx="3">
                  <c:v>Post-Jul
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27.7</c:v>
                </c:pt>
                <c:pt idx="1">
                  <c:v>33.5</c:v>
                </c:pt>
                <c:pt idx="2">
                  <c:v>39.1</c:v>
                </c:pt>
                <c:pt idx="3">
                  <c:v>34.5</c:v>
                </c:pt>
                <c:pt idx="4">
                  <c:v>39.0</c:v>
                </c:pt>
                <c:pt idx="5">
                  <c:v>37.5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10-yr JGB Yield (%)</c:v>
                </c:pt>
              </c:strCache>
            </c:strRef>
          </c:tx>
          <c:spPr>
            <a:ln w="31750">
              <a:solidFill>
                <a:srgbClr val="1A56DB"/>
              </a:solidFill>
            </a:ln>
          </c:spPr>
          <c:cat>
            <c:strRef>
              <c:f>Sheet1!$A$2:$A$7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Pre-hike
2024</c:v>
                </c:pt>
                <c:pt idx="3">
                  <c:v>Post-Jul
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0.25</c:v>
                </c:pt>
                <c:pt idx="1">
                  <c:v>0.6</c:v>
                </c:pt>
                <c:pt idx="2">
                  <c:v>0.9</c:v>
                </c:pt>
                <c:pt idx="3">
                  <c:v>1.05</c:v>
                </c:pt>
                <c:pt idx="4">
                  <c:v>1.55</c:v>
                </c:pt>
                <c:pt idx="5">
                  <c:v>2.05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BoJ Policy Rate (%)</c:v>
                </c:pt>
              </c:strCache>
            </c:strRef>
          </c:tx>
          <c:spPr>
            <a:ln w="31750">
              <a:solidFill>
                <a:srgbClr val="D92424"/>
              </a:solidFill>
              <a:prstDash val="dash"/>
            </a:ln>
          </c:spPr>
          <c:cat>
            <c:strRef>
              <c:f>Sheet1!$A$2:$A$7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Pre-hike
2024</c:v>
                </c:pt>
                <c:pt idx="3">
                  <c:v>Post-Jul
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-0.1</c:v>
                </c:pt>
                <c:pt idx="1">
                  <c:v>-0.1</c:v>
                </c:pt>
                <c:pt idx="2">
                  <c:v>0.1</c:v>
                </c:pt>
                <c:pt idx="3">
                  <c:v>0.25</c:v>
                </c:pt>
                <c:pt idx="4">
                  <c:v>0.75</c:v>
                </c:pt>
                <c:pt idx="5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  <c:spPr>
          <a:ln>
            <a:solidFill>
              <a:srgbClr val="EEEEEE"/>
            </a:solidFill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</a:p>
        </c:txPr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01 / 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Japan's Post-2023
Economic Policy 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605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A020"/>
                </a:solidFill>
                <a:latin typeface="Calibri"/>
              </a:rPr>
              <a:t>From Ultra-Loose Monetary Easing to Normalisation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Calibri"/>
              </a:rPr>
              <a:t>ECX3550 / ECX5550  ·  Business in Asia  ·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023360"/>
            <a:ext cx="548640" cy="502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0" y="1645920"/>
            <a:ext cx="2743200" cy="1508760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62288" y="181051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−0.1%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62288" y="245059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BoJ rate
pre-2024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3337560"/>
            <a:ext cx="2743200" cy="1508760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350215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1.00%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414223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BoJ rate
2026(f)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5029200"/>
            <a:ext cx="2743200" cy="1508760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519379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5.46%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583387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Wage growth
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02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78408"/>
            <a:ext cx="548640" cy="502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6217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most significant monetary-policy
rupture in Japan's modern history.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971800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80360"/>
            <a:ext cx="5833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F0"/>
                </a:solidFill>
                <a:latin typeface="Calibri"/>
              </a:rPr>
              <a:t>BoJ raised policy rate from −0.1% to 0.75% (Dec 2025) — highest since 1995.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721608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630168"/>
            <a:ext cx="5833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F0"/>
                </a:solidFill>
                <a:latin typeface="Calibri"/>
              </a:rPr>
              <a:t>Propelled by return of sustained inflation and strongest wage growth since early 1990s.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471416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379976"/>
            <a:ext cx="5833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F0"/>
                </a:solidFill>
                <a:latin typeface="Calibri"/>
              </a:rPr>
              <a:t>Pivot succeeded in exiting NIRP and re-anchoring wage–price dynamics.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221224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129784"/>
            <a:ext cx="5833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F0"/>
                </a:solidFill>
                <a:latin typeface="Calibri"/>
              </a:rPr>
              <a:t>But tightened into 2026 even as CPI fell below its own 2% target — tensions remain.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960120"/>
            <a:ext cx="4389120" cy="1298448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8" y="1124712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Mar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1764792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End of NIRP
First hike in 17 yrs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404872"/>
            <a:ext cx="4389120" cy="1298448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2569464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0.75%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3209544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Policy rate
Dec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849624"/>
            <a:ext cx="4389120" cy="1298448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4014216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5.42%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4654296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Shunto wages
2025 settlement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5294376"/>
            <a:ext cx="4389120" cy="1298448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5458968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¥29.3T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6099048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Record current
account surplus 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053328"/>
            <a:ext cx="10637215" cy="548640"/>
          </a:xfrm>
          <a:prstGeom prst="rect">
            <a:avLst/>
          </a:prstGeom>
          <a:solidFill>
            <a:srgbClr val="13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" y="6163056"/>
            <a:ext cx="10344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★  Japan's three-decade deflation era is over — normalisation is structurally underway.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03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PRE-2023 POLICY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78408"/>
            <a:ext cx="548640" cy="502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1628"/>
                </a:solidFill>
                <a:latin typeface="Calibri"/>
              </a:rPr>
              <a:t>A decade of extraordinary
measures under Abenomics.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926080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34640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A1628"/>
                </a:solidFill>
                <a:latin typeface="Calibri"/>
              </a:rPr>
              <a:t>Abenomics (2013): QQE, flexible fiscal stimulus, structural reform.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675888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584448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A1628"/>
                </a:solidFill>
                <a:latin typeface="Calibri"/>
              </a:rPr>
              <a:t>Negative interest rates (NIRP) introduced Jan 2016 — world's last by 2023.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425696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334256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A1628"/>
                </a:solidFill>
                <a:latin typeface="Calibri"/>
              </a:rPr>
              <a:t>Yield Curve Control (YCC) added 2016: peg 10-yr JGB near 0% via unlimited buys.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175504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084064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A1628"/>
                </a:solidFill>
                <a:latin typeface="Calibri"/>
              </a:rPr>
              <a:t>Succeeded in reversing deflation; failed to sustain 2% target or lift wages.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053328"/>
            <a:ext cx="10637215" cy="548640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6163056"/>
            <a:ext cx="10344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★  By late 2023 the justifying conditions were dissolving: CPI &gt;3%, Shunto wages +3.6%.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005840"/>
            <a:ext cx="58064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217920" y="1097280"/>
          <a:ext cx="55321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63640" y="1115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BoJ Policy Rate 2013–2023 (%)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04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POST-2023 POLICY ANALYSIS  ·  THE MONETARY PIVOT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78408"/>
            <a:ext cx="548640" cy="502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Five rate decisions in 21 months
ended the world's last NIRP.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898648"/>
            <a:ext cx="73152" cy="7315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788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  <a:latin typeface="Calibri"/>
              </a:rPr>
              <a:t>Mar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8F0"/>
                </a:solidFill>
                <a:latin typeface="Calibri"/>
              </a:rPr>
              <a:t>End NIRP + scrap YCC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27889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0–0.1%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7–2 vote, first hike in 17 yrs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30168"/>
            <a:ext cx="73152" cy="7315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520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  <a:latin typeface="Calibri"/>
              </a:rPr>
              <a:t>Jul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8F0"/>
                </a:solidFill>
                <a:latin typeface="Calibri"/>
              </a:rPr>
              <a:t>Bond-taper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520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~0.25%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520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Yen rally + Nikkei correction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361688"/>
            <a:ext cx="73152" cy="7315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251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  <a:latin typeface="Calibri"/>
              </a:rPr>
              <a:t>Jan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8F0"/>
                </a:solidFill>
                <a:latin typeface="Calibri"/>
              </a:rPr>
              <a:t>Third hike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42519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0.50%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251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17-year 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093208"/>
            <a:ext cx="73152" cy="7315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983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  <a:latin typeface="Calibri"/>
              </a:rPr>
              <a:t>Dec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8F0"/>
                </a:solidFill>
                <a:latin typeface="Calibri"/>
              </a:rPr>
              <a:t>Fourth hike (unanimous)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983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0.75%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Highest since 1995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824728"/>
            <a:ext cx="73152" cy="7315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5715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  <a:latin typeface="Calibri"/>
              </a:rPr>
              <a:t>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715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8F0"/>
                </a:solidFill>
                <a:latin typeface="Calibri"/>
              </a:rPr>
              <a:t>Further tightening signalled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57150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→1.00%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5715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Toward estimated neutral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6053328"/>
            <a:ext cx="10637215" cy="548640"/>
          </a:xfrm>
          <a:prstGeom prst="rect">
            <a:avLst/>
          </a:prstGeom>
          <a:solidFill>
            <a:srgbClr val="13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" y="6163056"/>
            <a:ext cx="10344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★  The BoJ executed the fastest normalisation cycle of any G7 central bank in 2024–25.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1005840"/>
            <a:ext cx="58064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6217920" y="1097280"/>
          <a:ext cx="55321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263640" y="1115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BoJ Rate Hike Cycle 2024–2026 (%)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05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POST-2023 POLICY ANALYSIS  ·  WHY THE NEW REGIME IS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78408"/>
            <a:ext cx="548640" cy="502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1628"/>
                </a:solidFill>
                <a:latin typeface="Calibri"/>
              </a:rPr>
              <a:t>A structural departure from
forward-guidance central banking.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5303520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KURODA ERA (2013–2024)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331720"/>
            <a:ext cx="530352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UEDA ERA (2024–PRESENT)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2788920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986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Calibri"/>
              </a:rPr>
              <a:t>Primary instrument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8986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Negative rate + YCC + unlimited QE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986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3890"/>
                </a:solidFill>
                <a:latin typeface="Calibri"/>
              </a:rPr>
              <a:t>Short-term rate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29000"/>
            <a:ext cx="5303520" cy="5943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3429000"/>
            <a:ext cx="5303520" cy="5943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38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Calibri"/>
              </a:rPr>
              <a:t>Decision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5387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Forward guidance (commit to future path)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387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3890"/>
                </a:solidFill>
                <a:latin typeface="Calibri"/>
              </a:rPr>
              <a:t>Meeting-by-meeting data dependency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69080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4069080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788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Calibri"/>
              </a:rPr>
              <a:t>Balance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1788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Largest ever: held equities (ETFs), REITs, JGBs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788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3890"/>
                </a:solidFill>
                <a:latin typeface="Calibri"/>
              </a:rPr>
              <a:t>Active wind-down underway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709160"/>
            <a:ext cx="5303520" cy="5943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4709160"/>
            <a:ext cx="5303520" cy="5943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18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Calibri"/>
              </a:rPr>
              <a:t>Inflation threshold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8188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Must durably exceed 2% to raise rates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18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3890"/>
                </a:solidFill>
                <a:latin typeface="Calibri"/>
              </a:rPr>
              <a:t>Tightened even as CPI fell to 1.5%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349240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5349240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589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Calibri"/>
              </a:rPr>
              <a:t>Fiscal stance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4589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Coordinated Abenomics stimulus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4589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3890"/>
                </a:solidFill>
                <a:latin typeface="Calibri"/>
              </a:rPr>
              <a:t>Counter-fiscal: ¥122.3T budget tensions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6053328"/>
            <a:ext cx="10637215" cy="548640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" y="6163056"/>
            <a:ext cx="10344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★  Under Ueda the BoJ reverted to orthodox central banking — the instrument is the rate, not the balance sheet.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06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TRANSMISSION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78408"/>
            <a:ext cx="548640" cy="502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1628"/>
                </a:solidFill>
                <a:latin typeface="Calibri"/>
              </a:rPr>
              <a:t>Normalisation reshapes the business
environment through four channels.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60320"/>
            <a:ext cx="5394960" cy="1600200"/>
          </a:xfrm>
          <a:prstGeom prst="rect">
            <a:avLst/>
          </a:prstGeom>
          <a:solidFill>
            <a:srgbClr val="F4F5F7"/>
          </a:solidFill>
          <a:ln w="190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60320"/>
            <a:ext cx="164592" cy="1600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6700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Interest-Rate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0175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628"/>
                </a:solidFill>
                <a:latin typeface="Calibri"/>
              </a:rPr>
              <a:t>Higher borrowing costs raise cost of capital; penalise leverage &amp; zombie firms; widen net interest margins for regional banks squeezed under NIRP.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560320"/>
            <a:ext cx="5394960" cy="1600200"/>
          </a:xfrm>
          <a:prstGeom prst="rect">
            <a:avLst/>
          </a:prstGeom>
          <a:solidFill>
            <a:srgbClr val="F4F5F7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2560320"/>
            <a:ext cx="164592" cy="1600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26700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Exchange-Rate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30175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628"/>
                </a:solidFill>
                <a:latin typeface="Calibri"/>
              </a:rPr>
              <a:t>Narrowing Japan–US differential should support yen — but firms reinvest overseas earnings abroad rather than repatriating, blunting this channel.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97680"/>
            <a:ext cx="5394960" cy="1600200"/>
          </a:xfrm>
          <a:prstGeom prst="rect">
            <a:avLst/>
          </a:prstGeom>
          <a:solidFill>
            <a:srgbClr val="F4F5F7"/>
          </a:solidFill>
          <a:ln w="19050">
            <a:solidFill>
              <a:srgbClr val="10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297680"/>
            <a:ext cx="164592" cy="1600200"/>
          </a:xfrm>
          <a:prstGeom prst="rect">
            <a:avLst/>
          </a:prstGeom>
          <a:solidFill>
            <a:srgbClr val="10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4074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6B3A"/>
                </a:solidFill>
                <a:latin typeface="Calibri"/>
              </a:rPr>
              <a:t>Wage–Price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47548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628"/>
                </a:solidFill>
                <a:latin typeface="Calibri"/>
              </a:rPr>
              <a:t>Pivot institutionalised expectation wages must rise. Shunto-as-anchor: 5.1% (2024) → 5.42% (2025) → 5.46% (2026) headline settlements.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4297680"/>
            <a:ext cx="5394960" cy="1600200"/>
          </a:xfrm>
          <a:prstGeom prst="rect">
            <a:avLst/>
          </a:prstGeom>
          <a:solidFill>
            <a:srgbClr val="F4F5F7"/>
          </a:solidFill>
          <a:ln w="19050">
            <a:solidFill>
              <a:srgbClr val="7C1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4297680"/>
            <a:ext cx="164592" cy="1600200"/>
          </a:xfrm>
          <a:prstGeom prst="rect">
            <a:avLst/>
          </a:prstGeom>
          <a:solidFill>
            <a:srgbClr val="7C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44074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1D6F"/>
                </a:solidFill>
                <a:latin typeface="Calibri"/>
              </a:rPr>
              <a:t>Corporate Governance 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47548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628"/>
                </a:solidFill>
                <a:latin typeface="Calibri"/>
              </a:rPr>
              <a:t>TSE 2023 directive to firms below book value drove governance reforms. Nikkei 225 surpassed its 1989 bubble peak at 39,098 in Feb 2024.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053328"/>
            <a:ext cx="10637215" cy="548640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6163056"/>
            <a:ext cx="10344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★  Winners: lean capital structures, domestic demand, premium goods, healthcare, fintech, automation.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07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MACROECONOMIC EVALUATION  ·  KEY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78408"/>
            <a:ext cx="548640" cy="502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Japan macro snapshot 2022–2026:
wages surge as growth stumbles.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06040"/>
            <a:ext cx="5166360" cy="34747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791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Calibri"/>
              </a:rPr>
              <a:t>Indicator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791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26791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791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91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19" y="26791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2026(p)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53512"/>
            <a:ext cx="5166360" cy="512064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A5FA"/>
                </a:solidFill>
                <a:latin typeface="Calibri"/>
              </a:rPr>
              <a:t>Real GDP (%)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632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30632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0632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632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19" y="30632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0.8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83864"/>
            <a:ext cx="5166360" cy="51206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593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A5FA"/>
                </a:solidFill>
                <a:latin typeface="Calibri"/>
              </a:rPr>
              <a:t>CPI (%)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593592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3593592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593592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593592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19" y="3593592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14216"/>
            <a:ext cx="5166360" cy="512064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1239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A5FA"/>
                </a:solidFill>
                <a:latin typeface="Calibri"/>
              </a:rPr>
              <a:t>BoJ Rate (%)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12394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-0.1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412394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-0.1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12394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12394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0.75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19" y="4123944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544567"/>
            <a:ext cx="5166360" cy="512064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65429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A5FA"/>
                </a:solidFill>
                <a:latin typeface="Calibri"/>
              </a:rPr>
              <a:t>Shunto Wages (%)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654295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2.2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4654295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3.6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4654295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654295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5.42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19" y="4654295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5.46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1005840"/>
            <a:ext cx="603504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6035040" y="1097280"/>
          <a:ext cx="5760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080760" y="11155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GDP vs CPI vs Wage Growth 2022–2026 (%)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6053328"/>
            <a:ext cx="10637215" cy="548640"/>
          </a:xfrm>
          <a:prstGeom prst="rect">
            <a:avLst/>
          </a:prstGeom>
          <a:solidFill>
            <a:srgbClr val="13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" y="6163056"/>
            <a:ext cx="10344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★  Wages now outpace CPI for the first time in a generation — purchasing power is finally recovering.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08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MACROECONOMIC EVALUATION  ·  BoJ RATE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78408"/>
            <a:ext cx="548640" cy="502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628"/>
                </a:solidFill>
                <a:latin typeface="Calibri"/>
              </a:rPr>
              <a:t>From −0.1% to 1.0%: five unanimous
decisions reshaping the cost of capital.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60320"/>
            <a:ext cx="5212080" cy="3474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334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26334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6334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6334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07792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19 Mar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01752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End NIRP; scrap YCC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01752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0–0.1%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017520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First hike in 17 yrs (7–2 vote)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74720"/>
            <a:ext cx="5212080" cy="5486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84448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31 Jul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358444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Bond-taper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584448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~0.25%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3584448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Triggered Nikkei correction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041648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5137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24 Jan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15137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Third hike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151376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0.50%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151376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17-year 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608575"/>
            <a:ext cx="5212080" cy="5486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718303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19 Dec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20" y="4718303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Fourth hike (unanimous)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471830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0.75%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4718303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Highest since 1995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175504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8523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20" y="528523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Further tightening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5285232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→1.00%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5285232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628"/>
                </a:solidFill>
                <a:latin typeface="Calibri"/>
              </a:rPr>
              <a:t>Toward neutral 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6053328"/>
            <a:ext cx="10637215" cy="548640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" y="6163056"/>
            <a:ext cx="10344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★  Each hike has been deliberate and data-referenced — the BoJ is rebuilding its credibility meeting by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1005840"/>
            <a:ext cx="59436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6080760" y="1097280"/>
          <a:ext cx="566928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6126480" y="11155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BoJ Policy Rate Progression (%)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09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MACROECONOMIC EVALUATION  ·  GROWTH &amp; DEMAND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78408"/>
            <a:ext cx="548640" cy="502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2024: near-zero growth despite
record wage settlements.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7520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926080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8F0"/>
                </a:solidFill>
                <a:latin typeface="Calibri"/>
              </a:rPr>
              <a:t>Calendar-year 2024 real GDP: +0.1% — fourth consecutive expansion but sharp decel.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767328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675888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8F0"/>
                </a:solidFill>
                <a:latin typeface="Calibri"/>
              </a:rPr>
              <a:t>0.1% contraction in private consumption; weak external demand; auto disruptions.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517136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425696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8F0"/>
                </a:solidFill>
                <a:latin typeface="Calibri"/>
              </a:rPr>
              <a:t>Real wages negative for much of 2024 as inflation outpaced nominal gains.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266944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175504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8F0"/>
                </a:solidFill>
                <a:latin typeface="Calibri"/>
              </a:rPr>
              <a:t>IMF projects rebound to 1.1% in 2025 as above-inflation pay lifts disposable income.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053328"/>
            <a:ext cx="10637215" cy="548640"/>
          </a:xfrm>
          <a:prstGeom prst="rect">
            <a:avLst/>
          </a:prstGeom>
          <a:solidFill>
            <a:srgbClr val="13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6163056"/>
            <a:ext cx="10344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★  The wage-consumption flywheel is just starting to turn — Q1 2026 (+0.5% q/q) is the first real 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005840"/>
            <a:ext cx="603504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035040" y="1097280"/>
          <a:ext cx="5760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80760" y="11155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Real GDP Growth vs Shunto Wages 2022–2026 (%)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10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MACROECONOMIC EVALUATION  ·  INFLATION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78408"/>
            <a:ext cx="548640" cy="502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1628"/>
                </a:solidFill>
                <a:latin typeface="Calibri"/>
              </a:rPr>
              <a:t>Mission accomplished — then
overshoot into undershooting.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7520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926080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A1628"/>
                </a:solidFill>
                <a:latin typeface="Calibri"/>
              </a:rPr>
              <a:t>Headline CPI peaked above 3% in early 2023; averaged 2.7% in 2024.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767328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675888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A1628"/>
                </a:solidFill>
                <a:latin typeface="Calibri"/>
              </a:rPr>
              <a:t>By May 2026: headline CPI 1.5%, core CPI 1.4% — below 2% target 4 months running.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517136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425696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A1628"/>
                </a:solidFill>
                <a:latin typeface="Calibri"/>
              </a:rPr>
              <a:t>BoJ kept tightening past 0.75% even as inflation undershot own target.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266944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175504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A1628"/>
                </a:solidFill>
                <a:latin typeface="Calibri"/>
              </a:rPr>
              <a:t>Suggests policy influenced by normalisation momentum and yen management — not just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053328"/>
            <a:ext cx="10637215" cy="548640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6163056"/>
            <a:ext cx="10344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★  The BoJ's 'data-dependent' claim looks increasingly strained — tightening continued below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005840"/>
            <a:ext cx="603504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035040" y="1097280"/>
          <a:ext cx="5760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80760" y="11155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Headline CPI vs 2% Target vs BoJ Rate (%)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11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MACROECONOMIC EVALUATION  ·  EXTERNAL BALANCE &amp; INVESTMENT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78408"/>
            <a:ext cx="548640" cy="502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Record surplus — but built on
weak-yen returns, not competitiveness.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7520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926080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8F0"/>
                </a:solidFill>
                <a:latin typeface="Calibri"/>
              </a:rPr>
              <a:t>Current account surplus: record ¥29.3T in 2024 (4.8% of GDP) — largest since 1985.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767328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675888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8F0"/>
                </a:solidFill>
                <a:latin typeface="Calibri"/>
              </a:rPr>
              <a:t>Surplus driven by primary income (overseas returns) not trade; goods balance stayed in deficit.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517136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425696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8F0"/>
                </a:solidFill>
                <a:latin typeface="Calibri"/>
              </a:rPr>
              <a:t>Greenfield FDI: US$31B record in 2024 — semiconductors, data centres, logistics.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266944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175504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8F0"/>
                </a:solidFill>
                <a:latin typeface="Calibri"/>
              </a:rPr>
              <a:t>Projected to fall steeply in FY2025 as one-off yen tailwinds fade.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806440"/>
            <a:ext cx="1664208" cy="80467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5971032"/>
            <a:ext cx="13898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¥29.3T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6611112"/>
            <a:ext cx="1389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Record current account
surplus 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5806440"/>
            <a:ext cx="1664208" cy="80467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5971032"/>
            <a:ext cx="13898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4.8%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6611112"/>
            <a:ext cx="1389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% of GDP — highest
since 1985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5806440"/>
            <a:ext cx="1664208" cy="80467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5971032"/>
            <a:ext cx="13898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$31B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6611112"/>
            <a:ext cx="1389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Record greenfield FDI
2024 (JETRO)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053328"/>
            <a:ext cx="10637215" cy="548640"/>
          </a:xfrm>
          <a:prstGeom prst="rect">
            <a:avLst/>
          </a:prstGeom>
          <a:solidFill>
            <a:srgbClr val="13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6163056"/>
            <a:ext cx="10344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★  TSMC Kumamoto is the flagship: Japan is repositioning as a supply-chain resilience hub for semiconductors &amp; AI.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1005840"/>
            <a:ext cx="603504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035040" y="1097280"/>
          <a:ext cx="576072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80760" y="11155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Current Account Balance (% of GDP) 2022–2025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12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  <a:latin typeface="Calibri"/>
              </a:rPr>
              <a:t>MACROECONOMIC EVALUATION  ·  FINANCIAL-STABILITY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78408"/>
            <a:ext cx="548640" cy="502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628"/>
                </a:solidFill>
                <a:latin typeface="Calibri"/>
              </a:rPr>
              <a:t>Normalisation not frictionless:
Nikkei, JGBs, and zombie firms.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7520"/>
            <a:ext cx="91440" cy="91440"/>
          </a:xfrm>
          <a:prstGeom prst="rect">
            <a:avLst/>
          </a:prstGeom>
          <a:solidFill>
            <a:srgbClr val="D9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926080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A1628"/>
                </a:solidFill>
                <a:latin typeface="Calibri"/>
              </a:rPr>
              <a:t>Jul 2024 hike: ~12% Nikkei correction + violent unwinding of yen carry trades.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767328"/>
            <a:ext cx="91440" cy="91440"/>
          </a:xfrm>
          <a:prstGeom prst="rect">
            <a:avLst/>
          </a:prstGeom>
          <a:solidFill>
            <a:srgbClr val="D9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675888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A1628"/>
                </a:solidFill>
                <a:latin typeface="Calibri"/>
              </a:rPr>
              <a:t>10-yr JGB yields above 2% for first time since 1999 after 2025–26 hikes.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517136"/>
            <a:ext cx="91440" cy="91440"/>
          </a:xfrm>
          <a:prstGeom prst="rect">
            <a:avLst/>
          </a:prstGeom>
          <a:solidFill>
            <a:srgbClr val="D9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425696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A1628"/>
                </a:solidFill>
                <a:latin typeface="Calibri"/>
              </a:rPr>
              <a:t>Public debt ~230–237% of GDP; every rate increment raises debt-servicing costs.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266944"/>
            <a:ext cx="91440" cy="91440"/>
          </a:xfrm>
          <a:prstGeom prst="rect">
            <a:avLst/>
          </a:prstGeom>
          <a:solidFill>
            <a:srgbClr val="D9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175504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A1628"/>
                </a:solidFill>
                <a:latin typeface="Calibri"/>
              </a:rPr>
              <a:t>IMF flags rising systemic vulnerability: mark-to-market losses + SME defaults.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053328"/>
            <a:ext cx="10637215" cy="548640"/>
          </a:xfrm>
          <a:prstGeom prst="rect">
            <a:avLst/>
          </a:prstGeom>
          <a:solidFill>
            <a:srgbClr val="FE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6163056"/>
            <a:ext cx="10344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2424"/>
                </a:solidFill>
                <a:latin typeface="Calibri"/>
              </a:rPr>
              <a:t>★  Debt at 230% of GDP means fiscal risk is the single biggest structural threat to durable normalisation.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005840"/>
            <a:ext cx="603504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035040" y="1097280"/>
          <a:ext cx="5760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80760" y="11155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Nikkei (÷1000) · JGB Yield · BoJ Rate — Financial Stability Lens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182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13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CONCLUSION &amp; BUSINESS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78408"/>
            <a:ext cx="548640" cy="502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Form restored, substance debated —
act on the implications 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606040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8F0"/>
                </a:solidFill>
                <a:latin typeface="Calibri"/>
              </a:rPr>
              <a:t>BoJ has exited NIRP &amp; YCC, built a rate-hike cycle, and re-anchored wage–price dynamics.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355848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264408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8F0"/>
                </a:solidFill>
                <a:latin typeface="Calibri"/>
              </a:rPr>
              <a:t>But: inflation below target, fiscal stance turned sharply expansionary, surplus fragile.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14216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922776"/>
            <a:ext cx="4919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8F0"/>
                </a:solidFill>
                <a:latin typeface="Calibri"/>
              </a:rPr>
              <a:t>Pivot succeeded in form more clearly than in its stated 2% inflation substance.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572000"/>
            <a:ext cx="5166360" cy="1755648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6451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  <a:latin typeface="Calibri"/>
              </a:rPr>
              <a:t>Business Implications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029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›  Audit leverage — free capital now has real cost at 1%+.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4132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›  Pivot to domestic demand: healthcare, fintech, automation, premium goods.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79729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  ›  Monitor fiscal risk — 230% debt + expansionary government = key watch item.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463040"/>
            <a:ext cx="2606040" cy="1600200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1627632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1995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267712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Last time BoJ rate
was this 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1463040"/>
            <a:ext cx="2606040" cy="1600200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1627632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5.46%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267712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2026 Shunto wage
settlement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218688"/>
            <a:ext cx="2606040" cy="160020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338328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$31B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4023360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2024 FDI record
in Japan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3218688"/>
            <a:ext cx="2606040" cy="160020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82328" y="338328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92424"/>
                </a:solidFill>
                <a:latin typeface="Calibri"/>
              </a:rPr>
              <a:t>230%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4023360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0A5FA"/>
                </a:solidFill>
                <a:latin typeface="Calibri"/>
              </a:rPr>
              <a:t>Public debt/GDP
— the key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6053328"/>
            <a:ext cx="10637215" cy="548640"/>
          </a:xfrm>
          <a:prstGeom prst="rect">
            <a:avLst/>
          </a:prstGeom>
          <a:solidFill>
            <a:srgbClr val="13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6163056"/>
            <a:ext cx="103446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★  Japan 3.0 is real — but durability of normalisation, not its existence, is the open question for capital commitment.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